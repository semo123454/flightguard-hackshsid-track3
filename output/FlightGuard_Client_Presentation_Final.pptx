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65b87995a94196" /><Relationship Type="http://schemas.openxmlformats.org/officeDocument/2006/relationships/extended-properties" Target="/docProps/app.xml" Id="R648388e83bc54fa8" /><Relationship Type="http://schemas.openxmlformats.org/officeDocument/2006/relationships/officeDocument" Target="/ppt/presentation.xml" Id="R91f1b45c4652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f03b9efb8748c8"/>
  </p:sldMasterIdLst>
  <p:notesMasterIdLst>
    <p:notesMasterId xmlns:r="http://schemas.openxmlformats.org/officeDocument/2006/relationships" r:id="R2e78be078e2147e8"/>
  </p:notesMasterIdLst>
  <p:sldIdLst>
    <p:sldId xmlns:r="http://schemas.openxmlformats.org/officeDocument/2006/relationships" id="256" r:id="Rd2bee7708cc54424"/>
    <p:sldId xmlns:r="http://schemas.openxmlformats.org/officeDocument/2006/relationships" id="257" r:id="R59d0c236149d487b"/>
    <p:sldId xmlns:r="http://schemas.openxmlformats.org/officeDocument/2006/relationships" id="258" r:id="Rfeb155de128f430f"/>
    <p:sldId xmlns:r="http://schemas.openxmlformats.org/officeDocument/2006/relationships" id="259" r:id="R49454da2360747ed"/>
    <p:sldId xmlns:r="http://schemas.openxmlformats.org/officeDocument/2006/relationships" id="260" r:id="Rc4072d7c2f3c4985"/>
    <p:sldId xmlns:r="http://schemas.openxmlformats.org/officeDocument/2006/relationships" id="261" r:id="Rd4946f029df240fa"/>
    <p:sldId xmlns:r="http://schemas.openxmlformats.org/officeDocument/2006/relationships" id="262" r:id="R8d0b8f2f63ba4a9d"/>
    <p:sldId xmlns:r="http://schemas.openxmlformats.org/officeDocument/2006/relationships" id="263" r:id="R2978dd3d8b7245a8"/>
    <p:sldId xmlns:r="http://schemas.openxmlformats.org/officeDocument/2006/relationships" id="264" r:id="R0138ecc0e911414c"/>
    <p:sldId xmlns:r="http://schemas.openxmlformats.org/officeDocument/2006/relationships" id="265" r:id="R2d6d09da90ad4a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ca5f21d1f44ddd" /><Relationship Type="http://schemas.openxmlformats.org/officeDocument/2006/relationships/slideMaster" Target="/ppt/slideMasters/slideMaster1.xml" Id="R0af03b9efb8748c8" /><Relationship Type="http://schemas.openxmlformats.org/officeDocument/2006/relationships/notesMaster" Target="/ppt/notesMasters/notesMaster1.xml" Id="R2e78be078e2147e8" /><Relationship Type="http://schemas.openxmlformats.org/officeDocument/2006/relationships/presProps" Target="/ppt/presProps.xml" Id="R931590df77b548c7" /><Relationship Type="http://schemas.openxmlformats.org/officeDocument/2006/relationships/tableStyles" Target="/ppt/tableStyles.xml" Id="R346235a85f3248ba" /><Relationship Type="http://schemas.openxmlformats.org/officeDocument/2006/relationships/slide" Target="/ppt/slides/slide1.xml" Id="Rd2bee7708cc54424" /><Relationship Type="http://schemas.openxmlformats.org/officeDocument/2006/relationships/slide" Target="/ppt/slides/slide2.xml" Id="R59d0c236149d487b" /><Relationship Type="http://schemas.openxmlformats.org/officeDocument/2006/relationships/slide" Target="/ppt/slides/slide3.xml" Id="Rfeb155de128f430f" /><Relationship Type="http://schemas.openxmlformats.org/officeDocument/2006/relationships/slide" Target="/ppt/slides/slide4.xml" Id="R49454da2360747ed" /><Relationship Type="http://schemas.openxmlformats.org/officeDocument/2006/relationships/slide" Target="/ppt/slides/slide5.xml" Id="Rc4072d7c2f3c4985" /><Relationship Type="http://schemas.openxmlformats.org/officeDocument/2006/relationships/slide" Target="/ppt/slides/slide6.xml" Id="Rd4946f029df240fa" /><Relationship Type="http://schemas.openxmlformats.org/officeDocument/2006/relationships/slide" Target="/ppt/slides/slide7.xml" Id="R8d0b8f2f63ba4a9d" /><Relationship Type="http://schemas.openxmlformats.org/officeDocument/2006/relationships/slide" Target="/ppt/slides/slide8.xml" Id="R2978dd3d8b7245a8" /><Relationship Type="http://schemas.openxmlformats.org/officeDocument/2006/relationships/slide" Target="/ppt/slides/slide9.xml" Id="R0138ecc0e911414c" /><Relationship Type="http://schemas.openxmlformats.org/officeDocument/2006/relationships/slide" Target="/ppt/slides/slide10.xml" Id="R2d6d09da90ad4a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05c0f42db545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ba41466744552" /><Relationship Type="http://schemas.openxmlformats.org/officeDocument/2006/relationships/notesMaster" Target="/ppt/notesMasters/notesMaster1.xml" Id="Rc78e03d0d1494a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f2bef6231496c" /><Relationship Type="http://schemas.openxmlformats.org/officeDocument/2006/relationships/notesMaster" Target="/ppt/notesMasters/notesMaster1.xml" Id="R2d812c274f4a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ee1774054e4da8" /><Relationship Type="http://schemas.openxmlformats.org/officeDocument/2006/relationships/notesMaster" Target="/ppt/notesMasters/notesMaster1.xml" Id="Ra722690f67df4d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2857d9ae694987" /><Relationship Type="http://schemas.openxmlformats.org/officeDocument/2006/relationships/notesMaster" Target="/ppt/notesMasters/notesMaster1.xml" Id="Rbd0faaf7362043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d97b01ebaa4b01" /><Relationship Type="http://schemas.openxmlformats.org/officeDocument/2006/relationships/notesMaster" Target="/ppt/notesMasters/notesMaster1.xml" Id="R6633de3ae65e46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5a8b0738ff4c6e" /><Relationship Type="http://schemas.openxmlformats.org/officeDocument/2006/relationships/notesMaster" Target="/ppt/notesMasters/notesMaster1.xml" Id="R4b58d90ee7464d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5c3440cd9c43e7" /><Relationship Type="http://schemas.openxmlformats.org/officeDocument/2006/relationships/notesMaster" Target="/ppt/notesMasters/notesMaster1.xml" Id="Rc8601d4156a844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f39d46f10f4f68" /><Relationship Type="http://schemas.openxmlformats.org/officeDocument/2006/relationships/notesMaster" Target="/ppt/notesMasters/notesMaster1.xml" Id="Rf15afc4f7c074e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8bc5dab8fa49e9" /><Relationship Type="http://schemas.openxmlformats.org/officeDocument/2006/relationships/notesMaster" Target="/ppt/notesMasters/notesMaster1.xml" Id="R2aa3d17aa8f740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4298b816404d58" /><Relationship Type="http://schemas.openxmlformats.org/officeDocument/2006/relationships/notesMaster" Target="/ppt/notesMasters/notesMaster1.xml" Id="Re3384b12e6ea4c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封面。所有机场、事件和数值均为赛事方生成的模拟内容。</a:t>
            </a:r>
          </a:p>
          <a:p xmlns:a="http://schemas.openxmlformats.org/drawingml/2006/main">
            <a:r>
              <a:t>来源：D:\Summer\01_学校与课程\01_校内课程\01_学科\计算机\HackSHSID\HackSHSID 2026\Track 3 Problem Statement.pdf；D:\Summer\01_学校与课程\01_校内课程\01_学科\计算机\HackSHSID\HackSHSID 2026\Track 3 Data.xlsx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题目要求系统在信息不完整或冲突时说明未知、安排核查并明确人工决定事项。</a:t>
            </a:r>
          </a:p>
          <a:p xmlns:a="http://schemas.openxmlformats.org/drawingml/2006/main">
            <a:r>
              <a:t>来源：D:\Summer\01_学校与课程\01_校内课程\01_学科\计算机\HackSHSID\HackSHSID 2026\Track 3 Problem Statement.pdf；D:\Summer\01_学校与课程\01_校内课程\01_学科\计算机\HackSHSID\HackSHSID 2026\Track 3 Data.xlsx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五阶段流程对应题目中的基线比较、解释、优先行动、对象化沟通和反馈闭环。</a:t>
            </a:r>
          </a:p>
          <a:p xmlns:a="http://schemas.openxmlformats.org/drawingml/2006/main">
            <a:r>
              <a:t>来源：D:\Summer\01_学校与课程\01_校内课程\01_学科\计算机\HackSHSID\HackSHSID 2026\Track 3 Problem Statement.pdf；D:\Summer\01_学校与课程\01_校内课程\01_学科\计算机\HackSHSID\HackSHSID 2026\Track 3 Data.xlsx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图表使用赛事模拟的海陵国际机场 2024-01 至 2025-12 月度运行基线和同类机场均值。</a:t>
            </a:r>
          </a:p>
          <a:p xmlns:a="http://schemas.openxmlformats.org/drawingml/2006/main">
            <a:r>
              <a:t>来源：D:\Summer\01_学校与课程\01_校内课程\01_学科\计算机\HackSHSID\HackSHSID 2026\Track 3 Data.xlsx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界面截图来自本地运行的赛事原型。</a:t>
            </a:r>
          </a:p>
          <a:p xmlns:a="http://schemas.openxmlformats.org/drawingml/2006/main">
            <a:r>
              <a:t>来源：C:\Users\Summer\.codex\visualizations\2026\10\20\01a156f3-859d-7fe0-aa04-1abd07c1c6be\analysis-fixed.png；D:\Summer\01_学校与课程\01_校内课程\01_学科\计算机\HackSHSID\track3\README.md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情境内容来自赛事模拟事件 EVT001、EVT003 和 EVT005。</a:t>
            </a:r>
          </a:p>
          <a:p xmlns:a="http://schemas.openxmlformats.org/drawingml/2006/main">
            <a:r>
              <a:t>来源：D:\Summer\01_学校与课程\01_校内课程\01_学科\计算机\HackSHSID\HackSHSID 2026\Track 3 Data.xlsx；D:\Summer\01_学校与课程\01_校内课程\01_学科\计算机\HackSHSID\track3\reports\TEST_REPORT.md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题目要求同一事件分别生成面向运营人员、机场协调团队和旅客的文字。</a:t>
            </a:r>
          </a:p>
          <a:p xmlns:a="http://schemas.openxmlformats.org/drawingml/2006/main">
            <a:r>
              <a:t>来源：D:\Summer\01_学校与课程\01_校内课程\01_学科\计算机\HackSHSID\HackSHSID 2026\Track 3 Problem Statement.pdf；D:\Summer\01_学校与课程\01_校内课程\01_学科\计算机\HackSHSID\HackSHSID 2026\Track 3 Data.xlsx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测试分组：判断边界 5 项，数据与证据 4 项，对象与治理 3 项，学习与泛化 3 项。总计 15 项。</a:t>
            </a:r>
          </a:p>
          <a:p xmlns:a="http://schemas.openxmlformats.org/drawingml/2006/main">
            <a:r>
              <a:t>来源：D:\Summer\01_学校与课程\01_校内课程\01_学科\计算机\HackSHSID\track3\reports\TEST_REPORT.md；D:\Summer\01_学校与课程\01_校内课程\01_学科\计算机\HackSHSID\HackSHSID 2026\Track 3 Data.xlsx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度量聚焦流程质量。失败条件与控制措施记录在风险卡。</a:t>
            </a:r>
          </a:p>
          <a:p xmlns:a="http://schemas.openxmlformats.org/drawingml/2006/main">
            <a:r>
              <a:t>来源：D:\Summer\01_学校与课程\01_校内课程\01_学科\计算机\HackSHSID\HackSHSID 2026\Track 3 Problem Statement.pdf；D:\Summer\01_学校与课程\01_校内课程\01_学科\计算机\HackSHSID\track3\docs\RISK_CARD.md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路线图分为赛事原型、影子试点、受控数据接入和有限生产试点。</a:t>
            </a:r>
          </a:p>
          <a:p xmlns:a="http://schemas.openxmlformats.org/drawingml/2006/main">
            <a:r>
              <a:t>来源：D:\Summer\01_学校与课程\01_校内课程\01_学科\计算机\HackSHSID\track3\docs\ROADMAP.md；C:\Users\Summer\.codex\visualizations\2026\10\20\01a156f3-859d-7fe0-aa04-1abd07c1c6be\dashboard-loaded.png；D:\Summer\01_学校与课程\01_校内课程\01_学科\计算机\HackSHSID\track3\reports\TES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23fe6e2ba42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dd33d2c914b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9b20c54164f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d9b4d21e3143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a8a8e7ec347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94e2780ae347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E82F86-ACB7-4B6B-9034-74187A3D22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513300-E223-4967-BAEF-8F0A404884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CD9E70-220F-454F-A549-014D09521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69FFAB-BA17-4E7F-86F7-651AFF465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B56C9F-CF93-4B70-BE99-008E9A0C3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D120D6-B89E-41E0-A943-0DACAEF9C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1C6839-F4D7-4D49-8278-6C1F37D4EB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52F4AD-A9C9-4D99-A2CA-97FBB3C4CC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D086B2-F20A-4A9D-A971-8DE622D998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D1B5E9-93EA-414E-8F3D-5EFFB7B5DB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bcdaa3cee4cc7" /><Relationship Type="http://schemas.openxmlformats.org/officeDocument/2006/relationships/slideLayout" Target="/ppt/slideLayouts/slideLayout1.xml" Id="R0ebb39a0a8c64e9c" /><Relationship Type="http://schemas.openxmlformats.org/officeDocument/2006/relationships/slideLayout" Target="/ppt/slideLayouts/slideLayout2.xml" Id="R63f92e1717f04639" /><Relationship Type="http://schemas.openxmlformats.org/officeDocument/2006/relationships/slideLayout" Target="/ppt/slideLayouts/slideLayout3.xml" Id="R595f9562ece34641" /><Relationship Type="http://schemas.openxmlformats.org/officeDocument/2006/relationships/slideLayout" Target="/ppt/slideLayouts/slideLayout4.xml" Id="R24162c7cdd5b42a0" /><Relationship Type="http://schemas.openxmlformats.org/officeDocument/2006/relationships/slideLayout" Target="/ppt/slideLayouts/slideLayout5.xml" Id="R76bad91949934ba3" /><Relationship Type="http://schemas.openxmlformats.org/officeDocument/2006/relationships/slideLayout" Target="/ppt/slideLayouts/slideLayout6.xml" Id="Ra21dad4f4588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bb39a0a8c64e9c"/>
    <p:sldLayoutId xmlns:r="http://schemas.openxmlformats.org/officeDocument/2006/relationships" id="2147483650" r:id="R63f92e1717f04639"/>
    <p:sldLayoutId xmlns:r="http://schemas.openxmlformats.org/officeDocument/2006/relationships" id="2147483651" r:id="R595f9562ece34641"/>
    <p:sldLayoutId xmlns:r="http://schemas.openxmlformats.org/officeDocument/2006/relationships" id="2147483652" r:id="R24162c7cdd5b42a0"/>
    <p:sldLayoutId xmlns:r="http://schemas.openxmlformats.org/officeDocument/2006/relationships" id="2147483653" r:id="R76bad91949934ba3"/>
    <p:sldLayoutId xmlns:r="http://schemas.openxmlformats.org/officeDocument/2006/relationships" id="2147483654" r:id="Ra21dad4f4588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2bd4556c44a6b" /><Relationship Type="http://schemas.openxmlformats.org/officeDocument/2006/relationships/notesSlide" Target="/ppt/notesSlides/notesSlide1.xml" Id="Rb092591361b54f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7edbb17704d97" /><Relationship Type="http://schemas.openxmlformats.org/officeDocument/2006/relationships/notesSlide" Target="/ppt/notesSlides/notesSlide2.xml" Id="Rb12b80ad50c947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c728bb8ff4d67" /><Relationship Type="http://schemas.openxmlformats.org/officeDocument/2006/relationships/notesSlide" Target="/ppt/notesSlides/notesSlide3.xml" Id="R940e7f208e9a49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cb5177aed4ecd" /><Relationship Type="http://schemas.openxmlformats.org/officeDocument/2006/relationships/chart" Target="/ppt/slides/charts/chart1.xml" Id="R7a85e1ec22d241d6" /><Relationship Type="http://schemas.openxmlformats.org/officeDocument/2006/relationships/notesSlide" Target="/ppt/notesSlides/notesSlide4.xml" Id="R5b31565a9f2a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ada41957a4d59" /><Relationship Type="http://schemas.openxmlformats.org/officeDocument/2006/relationships/image" Target="/ppt/media/image.png" Id="R3fdf97b1745c4cd2" /><Relationship Type="http://schemas.openxmlformats.org/officeDocument/2006/relationships/notesSlide" Target="/ppt/notesSlides/notesSlide5.xml" Id="R008d1edc1b5b4c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0eb77e69c4153" /><Relationship Type="http://schemas.openxmlformats.org/officeDocument/2006/relationships/notesSlide" Target="/ppt/notesSlides/notesSlide6.xml" Id="R537c8eb8d7dc4b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edf9c85554737" /><Relationship Type="http://schemas.openxmlformats.org/officeDocument/2006/relationships/notesSlide" Target="/ppt/notesSlides/notesSlide7.xml" Id="R9ecc33cd329d4f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d92479e7541b3" /><Relationship Type="http://schemas.openxmlformats.org/officeDocument/2006/relationships/chart" Target="/ppt/slides/charts/chart2.xml" Id="R74d6b52f18e1421e" /><Relationship Type="http://schemas.openxmlformats.org/officeDocument/2006/relationships/notesSlide" Target="/ppt/notesSlides/notesSlide8.xml" Id="R68a88d0284ea4b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26e764a7748e9" /><Relationship Type="http://schemas.openxmlformats.org/officeDocument/2006/relationships/notesSlide" Target="/ppt/notesSlides/notesSlide9.xml" Id="R1add301bac474e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2416ea33049f1" /><Relationship Type="http://schemas.openxmlformats.org/officeDocument/2006/relationships/notesSlide" Target="/ppt/notesSlides/notesSlide10.xml" Id="R87533178668a4ef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海陵国际机场</c:v>
          </c:tx>
          <c:spPr>
            <a:ln xmlns:a="http://schemas.openxmlformats.org/drawingml/2006/main" w="28575">
              <a:solidFill>
                <a:srgbClr val="0A857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FFFFF"/>
              </a:solidFill>
            </c:spPr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24.01</c:v>
                </c:pt>
                <c:pt idx="1">
                  <c:v>24.02</c:v>
                </c:pt>
                <c:pt idx="2">
                  <c:v>24.03</c:v>
                </c:pt>
                <c:pt idx="3">
                  <c:v>24.04</c:v>
                </c:pt>
                <c:pt idx="4">
                  <c:v>24.05</c:v>
                </c:pt>
                <c:pt idx="5">
                  <c:v>24.06</c:v>
                </c:pt>
                <c:pt idx="6">
                  <c:v>24.07</c:v>
                </c:pt>
                <c:pt idx="7">
                  <c:v>24.08</c:v>
                </c:pt>
                <c:pt idx="8">
                  <c:v>24.09</c:v>
                </c:pt>
                <c:pt idx="9">
                  <c:v>24.10</c:v>
                </c:pt>
                <c:pt idx="10">
                  <c:v>24.11</c:v>
                </c:pt>
                <c:pt idx="11">
                  <c:v>24.12</c:v>
                </c:pt>
                <c:pt idx="12">
                  <c:v>25.01</c:v>
                </c:pt>
                <c:pt idx="13">
                  <c:v>25.02</c:v>
                </c:pt>
                <c:pt idx="14">
                  <c:v>25.03</c:v>
                </c:pt>
                <c:pt idx="15">
                  <c:v>25.04</c:v>
                </c:pt>
                <c:pt idx="16">
                  <c:v>25.05</c:v>
                </c:pt>
                <c:pt idx="17">
                  <c:v>25.06</c:v>
                </c:pt>
                <c:pt idx="18">
                  <c:v>25.07</c:v>
                </c:pt>
                <c:pt idx="19">
                  <c:v>25.08</c:v>
                </c:pt>
                <c:pt idx="20">
                  <c:v>25.09</c:v>
                </c:pt>
                <c:pt idx="21">
                  <c:v>25.10</c:v>
                </c:pt>
                <c:pt idx="22">
                  <c:v>25.11</c:v>
                </c:pt>
                <c:pt idx="23">
                  <c:v>25.12</c:v>
                </c:pt>
              </c:numCache>
            </c:numRef>
          </c:cat>
          <c:val>
            <c:numRef>
              <c:f>'Chart Data'!$B$2:$B$25</c:f>
              <c:numCache>
                <c:formatCode>0%</c:formatCode>
                <c:ptCount val="24"/>
                <c:pt idx="0">
                  <c:v>0.8211</c:v>
                </c:pt>
                <c:pt idx="1">
                  <c:v>0.8256</c:v>
                </c:pt>
                <c:pt idx="2">
                  <c:v>0.8901</c:v>
                </c:pt>
                <c:pt idx="3">
                  <c:v>0.8592</c:v>
                </c:pt>
                <c:pt idx="4">
                  <c:v>0.8701</c:v>
                </c:pt>
                <c:pt idx="5">
                  <c:v>0.8807</c:v>
                </c:pt>
                <c:pt idx="6">
                  <c:v>0.8097</c:v>
                </c:pt>
                <c:pt idx="7">
                  <c:v>0.823</c:v>
                </c:pt>
                <c:pt idx="8">
                  <c:v>0.8755</c:v>
                </c:pt>
                <c:pt idx="9">
                  <c:v>0.8565</c:v>
                </c:pt>
                <c:pt idx="10">
                  <c:v>0.8501</c:v>
                </c:pt>
                <c:pt idx="11">
                  <c:v>0.847</c:v>
                </c:pt>
                <c:pt idx="12">
                  <c:v>0.8407</c:v>
                </c:pt>
                <c:pt idx="13">
                  <c:v>0.8281</c:v>
                </c:pt>
                <c:pt idx="14">
                  <c:v>0.8847</c:v>
                </c:pt>
                <c:pt idx="15">
                  <c:v>0.8934</c:v>
                </c:pt>
                <c:pt idx="16">
                  <c:v>0.8428</c:v>
                </c:pt>
                <c:pt idx="17">
                  <c:v>0.8615</c:v>
                </c:pt>
                <c:pt idx="18">
                  <c:v>0.6949</c:v>
                </c:pt>
                <c:pt idx="19">
                  <c:v>0.7316</c:v>
                </c:pt>
                <c:pt idx="20">
                  <c:v>0.8866</c:v>
                </c:pt>
                <c:pt idx="21">
                  <c:v>0.8948</c:v>
                </c:pt>
                <c:pt idx="22">
                  <c:v>0.8446</c:v>
                </c:pt>
                <c:pt idx="23">
                  <c:v>0.8836</c:v>
                </c:pt>
              </c:numCache>
            </c:numRef>
          </c:val>
        </c:ser>
        <c:ser>
          <c:idx val="1"/>
          <c:order val="1"/>
          <c:tx>
            <c:v>同类机场平均</c:v>
          </c:tx>
          <c:spPr>
            <a:ln xmlns:a="http://schemas.openxmlformats.org/drawingml/2006/main" w="19050">
              <a:solidFill>
                <a:srgbClr val="AAB6BC"/>
              </a:solidFill>
              <a:prstDash val="dash"/>
            </a:ln>
          </c:spPr>
          <c:marker>
            <c:symbol val="none"/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24.01</c:v>
                </c:pt>
                <c:pt idx="1">
                  <c:v>24.02</c:v>
                </c:pt>
                <c:pt idx="2">
                  <c:v>24.03</c:v>
                </c:pt>
                <c:pt idx="3">
                  <c:v>24.04</c:v>
                </c:pt>
                <c:pt idx="4">
                  <c:v>24.05</c:v>
                </c:pt>
                <c:pt idx="5">
                  <c:v>24.06</c:v>
                </c:pt>
                <c:pt idx="6">
                  <c:v>24.07</c:v>
                </c:pt>
                <c:pt idx="7">
                  <c:v>24.08</c:v>
                </c:pt>
                <c:pt idx="8">
                  <c:v>24.09</c:v>
                </c:pt>
                <c:pt idx="9">
                  <c:v>24.10</c:v>
                </c:pt>
                <c:pt idx="10">
                  <c:v>24.11</c:v>
                </c:pt>
                <c:pt idx="11">
                  <c:v>24.12</c:v>
                </c:pt>
                <c:pt idx="12">
                  <c:v>25.01</c:v>
                </c:pt>
                <c:pt idx="13">
                  <c:v>25.02</c:v>
                </c:pt>
                <c:pt idx="14">
                  <c:v>25.03</c:v>
                </c:pt>
                <c:pt idx="15">
                  <c:v>25.04</c:v>
                </c:pt>
                <c:pt idx="16">
                  <c:v>25.05</c:v>
                </c:pt>
                <c:pt idx="17">
                  <c:v>25.06</c:v>
                </c:pt>
                <c:pt idx="18">
                  <c:v>25.07</c:v>
                </c:pt>
                <c:pt idx="19">
                  <c:v>25.08</c:v>
                </c:pt>
                <c:pt idx="20">
                  <c:v>25.09</c:v>
                </c:pt>
                <c:pt idx="21">
                  <c:v>25.10</c:v>
                </c:pt>
                <c:pt idx="22">
                  <c:v>25.11</c:v>
                </c:pt>
                <c:pt idx="23">
                  <c:v>25.12</c:v>
                </c:pt>
              </c:numCache>
            </c:numRef>
          </c:cat>
          <c:val>
            <c:numRef>
              <c:f>'Chart Data'!$D$2:$D$25</c:f>
              <c:numCache>
                <c:formatCode>0%</c:formatCode>
                <c:ptCount val="24"/>
                <c:pt idx="0">
                  <c:v>0.8282</c:v>
                </c:pt>
                <c:pt idx="1">
                  <c:v>0.8277</c:v>
                </c:pt>
                <c:pt idx="2">
                  <c:v>0.8941</c:v>
                </c:pt>
                <c:pt idx="3">
                  <c:v>0.8727</c:v>
                </c:pt>
                <c:pt idx="4">
                  <c:v>0.8817</c:v>
                </c:pt>
                <c:pt idx="5">
                  <c:v>0.8684</c:v>
                </c:pt>
                <c:pt idx="6">
                  <c:v>0.811</c:v>
                </c:pt>
                <c:pt idx="7">
                  <c:v>0.8294</c:v>
                </c:pt>
                <c:pt idx="8">
                  <c:v>0.8722</c:v>
                </c:pt>
                <c:pt idx="9">
                  <c:v>0.8786</c:v>
                </c:pt>
                <c:pt idx="10">
                  <c:v>0.8683</c:v>
                </c:pt>
                <c:pt idx="11">
                  <c:v>0.8655</c:v>
                </c:pt>
                <c:pt idx="12">
                  <c:v>0.8327</c:v>
                </c:pt>
                <c:pt idx="13">
                  <c:v>0.8377</c:v>
                </c:pt>
                <c:pt idx="14">
                  <c:v>0.8913</c:v>
                </c:pt>
                <c:pt idx="15">
                  <c:v>0.8966</c:v>
                </c:pt>
                <c:pt idx="16">
                  <c:v>0.8556</c:v>
                </c:pt>
                <c:pt idx="17">
                  <c:v>0.8568</c:v>
                </c:pt>
                <c:pt idx="18">
                  <c:v>0.7495</c:v>
                </c:pt>
                <c:pt idx="19">
                  <c:v>0.7682</c:v>
                </c:pt>
                <c:pt idx="20">
                  <c:v>0.8898</c:v>
                </c:pt>
                <c:pt idx="21">
                  <c:v>0.8938</c:v>
                </c:pt>
                <c:pt idx="22">
                  <c:v>0.8655</c:v>
                </c:pt>
                <c:pt idx="23">
                  <c:v>0.8833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3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lblOffset val="90"/>
      </c:catAx>
      <c:valAx>
        <c:axId val="48672768"/>
        <c:scaling>
          <c:orientation val="minMax"/>
          <c:max val="0.95"/>
          <c:min val="0.6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E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1717C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通过测试数</c:v>
          </c:tx>
          <c:spPr>
            <a:solidFill xmlns:a="http://schemas.openxmlformats.org/drawingml/2006/main">
              <a:srgbClr val="0A857B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判断边界</c:v>
                </c:pt>
                <c:pt idx="1">
                  <c:v>数据与证据</c:v>
                </c:pt>
                <c:pt idx="2">
                  <c:v>对象与治理</c:v>
                </c:pt>
                <c:pt idx="3">
                  <c:v>学习与泛化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C1D2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3E813-97C5-4EF5-9D5D-DDE3A9F4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6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11A"/>
          </a:solidFill>
          <a:ln xmlns:a="http://schemas.openxmlformats.org/drawingml/2006/main" w="0">
            <a:solidFill>
              <a:srgbClr val="F4A11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798B9-07FA-4FDD-BD5C-7E983DDD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04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A7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91A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A7B8"/>
                </a:solidFill>
                <a:latin typeface="Microsoft YaHei"/>
                <a:ea typeface="Microsoft YaHei"/>
                <a:cs typeface="Microsoft YaHei"/>
              </a:rPr>
              <a:t>HACKSHSID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AB72E-9804-419F-9E55-26856593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096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TRACK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2C3E8-487F-40D7-A60E-A324B73F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航策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EAD13-B05D-4D50-AEDB-57A2D4E6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861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FlightGuard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5BE6F-EC4A-4459-82C5-D1065CE6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052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重点机场航班异常应对智能助手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1C8BD-3E41-4069-969A-8487C300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rPr>
              <a:t>从证据核查到人工复核的离线原型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CFE52-D732-482E-B3FF-9BDAD5AD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21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91A7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91A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1A7B8"/>
                </a:solidFill>
                <a:latin typeface="Microsoft YaHei"/>
                <a:ea typeface="Microsoft YaHei"/>
                <a:cs typeface="Microsoft YaHei"/>
              </a:rPr>
              <a:t>规则可解释，沟通按对象区分，最终决定由人工完成</a:t>
            </a:r>
          </a:p>
        </p:txBody>
      </p:sp>
    </p:spTree>
    <p:extLst>
      <p:ext uri="{BB962C8B-B14F-4D97-AF65-F5344CB8AC3E}">
        <p14:creationId xmlns:p14="http://schemas.microsoft.com/office/powerpoint/2010/main" val="582310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3D76A-1B27-49E0-AAC3-89CE24B1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64938-60C7-4059-A7EC-8CD4A769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决策难点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11565-AF39-4F46-95E6-972ECE8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5AFB1-B440-4801-92AA-F48D7AF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E499F-805B-4AB3-890C-00E7847C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rPr>
              <a:t>扰动处理中，最大的风险来自证据不完整时的过早确定结论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894F8-364B-4A18-A6FA-1803E39C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FC58E-E28D-4A61-AA65-AF4D61E6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71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信息不完整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6B0BA-4313-4975-9718-AA818229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574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缺少逐航班计划、飞机位置、机组和地面保障状态。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1A9A2-EB68-4C17-90A7-57FB7CEF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4312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37B03-18EB-4911-AA64-22755274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717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来源互相冲突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F7ACC-38FC-4220-9A2C-273E3169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更新时间和统计口径不同，系统不能自行选择更有利的数字。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F79CD-1FCC-44C3-A5D4-6169F441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D2491C-C4EC-4F45-B1B6-682585C3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沟通对象不同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8C2A9-27C3-40CF-866B-48A1FE2C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672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运营人员需要行动顺序，机场团队需要核查请求，旅客需要谨慎表达。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AA62B-F4E5-4F89-8488-79DDCF62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528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8FACF-EE86-49C6-B875-42498E38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81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决定后果重大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07256-CA01-42E3-A397-3993C996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672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安全、放行、取消、维修、赔付和正式发布必须由专业人员决定。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6D2F1-3CC2-4217-A5F0-FBB2D88A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838BB-F4F3-4102-8CB5-10BDEEAC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600647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7CACBC-5A94-4D73-9BA0-461C0330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3A50A-00F6-4BC7-9B3D-AEC7C238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一次研判的五个阶段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F3D7F-E198-407B-8E70-071D42BC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F2090-75D9-4F45-8C41-197F512E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38991-246A-4D05-834C-BE3F37F1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620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规则引擎先整理证据，再生成建议和草案。人工反馈会形成关联修订版。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78547-9C97-41F0-9705-03023920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ACE"/>
          </a:solidFill>
          <a:ln xmlns:a="http://schemas.openxmlformats.org/drawingml/2006/main" w="0">
            <a:solidFill>
              <a:srgbClr val="BFCA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0A8CB-DCBD-450B-8C12-361B7985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33C1F-6860-4E39-967B-452852D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接收事件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CAA8F-EA68-442D-95AE-34217925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事实、时点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已知与未知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73774-B76F-48EE-8939-FC57744A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5241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41709-5B24-4F7A-BD5E-E399F112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861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比较基线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372D0-D7C0-421C-AACC-AC3A07B3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143375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前12个月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同类机场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67F58-6947-4199-9E7B-1ED87B93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241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F5D5F-4E9B-4F15-A02E-81108325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861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应用规则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8AFED-D085-4A4F-9655-059D4773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43375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异常阈值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冲突与停止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6189B-53F3-4EDF-BE73-2A6A4C9F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D2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0CB9A-B2ED-49A8-B27A-0B2F9C8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861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生成响应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9B2B1D-6C28-42D5-B9C7-074568FB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43375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行动顺序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三类草案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BE129-0EE6-4A6E-BA35-0F903D15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241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11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62590-49B7-4FA6-AC39-41F0016A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8617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人工复核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50B47-5FF5-49FB-9F23-DD2C1C7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43375"/>
            <a:ext cx="169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接受、修改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拒绝并留痕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AD64F-DF5E-497F-89F3-6AFEF6A9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86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停止机制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C8DEE-364E-4DCA-85DB-A18DCDC7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8637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来源可靠性无法判断或出现安全问题时，不再给出行动结论。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BCB4D-FBD1-429F-AB29-66E54368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FD404-2673-43E2-89F5-F550AD5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5731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DCF7E-59C6-45E8-8B51-96F9F26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7D17F-0DE2-4ACF-B52E-BFEDB055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异常定义与历史基线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24F20-9D0E-40AE-9D2D-C785C717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CC6F-5E99-47AC-89EF-B4BC66BB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F02F1-6A59-41A0-B0A4-3BD19D2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超过 5 个百分点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416E0-84E2-409F-81A7-448470F0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当前完成比例低于机场前 12 个月均值时，系统标记量化异常候选。恰好 5 个百分点不触发。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70238-C174-430D-81F7-A4EDC560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rPr>
              <a:t>高风险还需要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00F45-72BF-4657-B16E-54111DF1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rPr>
              <a:t>至少两个独立风险信号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rPr>
              <a:t>至少两个可靠来源确认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8E7E9-84E5-4724-839A-4F827B2D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月度历史只作背景，不能替代逐航班实时数据，也不能证明天气与延误的因果关系。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2A4CF941-79C4-4D12-8C16-057D697D7D88}"/>
              </a:ext>
            </a:extLst>
          </p:cNvPr>
          <p:cNvGraphicFramePr/>
          <p:nvPr/>
        </p:nvGraphicFramePr>
        <p:xfrm>
          <a:off xmlns:a="http://schemas.openxmlformats.org/drawingml/2006/main" x="4476750" y="1381125"/>
          <a:ext xmlns:a="http://schemas.openxmlformats.org/drawingml/2006/main" cx="70294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85e1ec22d241d6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541AA-BB0D-4766-8D53-CBA48519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0E061-CE15-4038-836C-88BB68A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27087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5C654-2853-48D0-B5D1-DBFFDABD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9F071-6FA9-4DD4-AD6F-9189AF1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原型把证据与行动放在同一屏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F7620-82B3-4964-A059-2EDC8904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FA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FA5B5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07DC6-908F-4670-ADAE-CCD9FC3F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65B"/>
          </a:solidFill>
          <a:ln xmlns:a="http://schemas.openxmlformats.org/drawingml/2006/main" w="0">
            <a:solidFill>
              <a:srgbClr val="2846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4F0C1-6DE3-4372-881B-8F19D62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风险结论保持简短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04A16-18CD-4897-8441-FFC7118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rPr>
              <a:t>风险等级与置信度分开显示。低风险不代表已经确认安全。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63911-D649-4A05-8E58-D8658C2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证据可以回溯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B41DA-74CA-4DD8-A4F5-0F44D2E3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rPr>
              <a:t>每项事实注明来源编号与时间范围。趋势图保留机场和同类基线。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0B3D3-9FA3-433E-A74B-8BF95756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行动带责任人和门槛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1360B-2EAC-4BFC-A051-9E419315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EC0CB"/>
                </a:solidFill>
                <a:latin typeface="Microsoft YaHei"/>
                <a:ea typeface="Microsoft YaHei"/>
                <a:cs typeface="Microsoft YaHei"/>
              </a:rPr>
              <a:t>用户看到先核查什么、谁负责，以及哪一步必须由人工决定。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ADBE9-21CF-45A5-9F7C-F9FFB396A3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df97b1745c4cd2"/>
          <a:srcRect xmlns:a="http://schemas.openxmlformats.org/drawingml/2006/main" l="0" t="6371" r="0" b="63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5825" y="1143000"/>
            <a:ext cx="6877050" cy="5000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A0FD2-D90B-4B57-B3AC-C4C7DEC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64B3F-4AD0-4FAC-9B98-D4804013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99836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0A040-C1E6-4C53-82FB-90B9AB0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11891-14BF-45A0-864A-606F2F16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三个情境展示系统如何改变判断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011A2-E4B2-4B5A-8C5C-C234B854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63DE1-6CE1-4016-999D-95BE19A3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ECF1F-234F-45BF-A7DD-8DE28C4C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系统不会把不同事件套入同一答案。输入事实、来源状态和人工反馈会改变风险与行动。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A6669-5892-41C9-AB7E-573B1A0215C4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2381250"/>
                <a:gridCol w="4143375"/>
                <a:gridCol w="2781300"/>
              </a:tblGrid>
              <a:tr h="928688">
                <a:tc>
                  <a:txBody>
                    <a:bodyPr lIns="95250" tIns="95250" rIns="95250" bIns="9525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3E6"/>
                      </a:solidFill>
                      <a:prstDash val="solid"/>
                    </a:lnL>
                    <a:lnR w="9525">
                      <a:solidFill>
                        <a:srgbClr val="DCE3E6"/>
                      </a:solidFill>
                      <a:prstDash val="solid"/>
                    </a:lnR>
                    <a:lnT w="9525">
                      <a:solidFill>
                        <a:srgbClr val="DCE3E6"/>
                      </a:solidFill>
                      <a:prstDash val="solid"/>
                    </a:lnT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0C1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关键事实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T w="9525">
                      <a:solidFill>
                        <a:srgbClr val="DCE3E6"/>
                      </a:solidFill>
                      <a:prstDash val="solid"/>
                    </a:lnT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0C1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系统响应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T w="9525">
                      <a:solidFill>
                        <a:srgbClr val="DCE3E6"/>
                      </a:solidFill>
                      <a:prstDash val="solid"/>
                    </a:lnT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0C1D2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T w="9525">
                      <a:solidFill>
                        <a:srgbClr val="DCE3E6"/>
                      </a:solidFill>
                      <a:prstDash val="solid"/>
                    </a:lnT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0C1D2D"/>
                    </a:solidFill>
                  </a:tcPr>
                </a:tc>
              </a:tr>
              <a:tr h="92868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C1D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EVT001</a:t>
                      </a:r>
                    </a:p>
                    <a:p>
                      <a:r>
                        <a:rPr sz="1200" b="1">
                          <a:solidFill>
                            <a:srgbClr val="0C1D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天气风险上升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3E6"/>
                      </a:solidFill>
                      <a:prstDash val="solid"/>
                    </a:lnL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强降雨和阵风预报</a:t>
                      </a:r>
                    </a:p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尚无正式延误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中风险。先核查天气更新时间和机场保障能力，准备监测清单与沟通草案。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不声称一定延误</a:t>
                      </a:r>
                    </a:p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不自动发布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</a:tr>
              <a:tr h="92868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C1D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EVT003</a:t>
                      </a:r>
                    </a:p>
                    <a:p>
                      <a:r>
                        <a:rPr sz="1200" b="1">
                          <a:solidFill>
                            <a:srgbClr val="0C1D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来源冲突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3E6"/>
                      </a:solidFill>
                      <a:prstDash val="solid"/>
                    </a:lnL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两个来源数字不同</a:t>
                      </a:r>
                    </a:p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更新时间相差 40 分钟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无法判断。暂停确定性结论，核查更新时间、口径、覆盖范围和复核状态。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不选择任一来源</a:t>
                      </a:r>
                    </a:p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冲突解决后重评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0C1D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EVT005</a:t>
                      </a:r>
                    </a:p>
                    <a:p>
                      <a:r>
                        <a:rPr sz="1200" b="1">
                          <a:solidFill>
                            <a:srgbClr val="0C1D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人工否决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3E6"/>
                      </a:solidFill>
                      <a:prstDash val="solid"/>
                    </a:lnL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专业人员补充资源充足</a:t>
                      </a:r>
                    </a:p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风速仍可控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保留原建议与否决原因，使用新增事实生成修订版，调整为持续监测。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  <a:tc>
                  <a:txBody>
                    <a:bodyPr lIns="95250" tIns="95250" rIns="95250" bIns="95250"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人工意见不被覆盖</a:t>
                      </a:r>
                    </a:p>
                    <a:p>
                      <a:r>
                        <a:rPr sz="1125" b="0">
                          <a:solidFill>
                            <a:srgbClr val="1421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原记录可追溯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3E6"/>
                      </a:solidFill>
                      <a:prstDash val="solid"/>
                    </a:lnR>
                    <a:lnB w="9525">
                      <a:solidFill>
                        <a:srgbClr val="DCE3E6"/>
                      </a:solidFill>
                      <a:prstDash val="solid"/>
                    </a:lnB>
                    <a:solidFill>
                      <a:srgbClr val="F8FAFA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B5855-0CB3-41CB-93D3-BDD1DBF1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rPr>
              <a:t>共同原则：没有足够证据时，系统降低判断强度，而不是补造事实。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88AFE-59F0-4060-823A-7E6BA48D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C06FD-60B4-4067-A76C-7DF66751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9291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D8EE15-4A65-415C-B0F0-44017BC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E2FBC-A4AC-4181-BE35-40C19C2C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同一事件需要三种沟通方式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2C82D-B199-41FA-AF4D-81FDEDA3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3AE14-6C98-4F08-9682-827C9C81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4202E-AB9A-4DE6-A2DF-5BF6C594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三类草案共享事实，但行动重点和表达强度不同。所有旅客文字必须人工审核。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FD098-B935-42AF-971B-80D87FB9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rPr>
              <a:t>内部运营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D39AB-20E4-43A8-953A-686EB0D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75309-3B5D-42E1-85EE-01B638D7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形成可执行核查顺序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DF3B3-4AB9-4EB5-8735-A83B36C4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包含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B1F86-E42F-4E00-A370-32CC445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风险摘要、首要事项、信息缺口、升级条件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E980E-2094-4594-A43B-7BECD1E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050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F"/>
          </a:solidFill>
          <a:ln xmlns:a="http://schemas.openxmlformats.org/drawingml/2006/main" w="0">
            <a:solidFill>
              <a:srgbClr val="D3DC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5ECC0-D13E-4A04-8D60-8E37979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rPr>
              <a:t>机场协调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C454E-F977-4CCB-8BA6-D942FA0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146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C0EDC-E7C3-46B0-8515-5750A5E9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48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取得可复核的现场信息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CFD6B-A742-409C-B939-0779C2B9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包含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077D3-BA41-4EA4-9922-D9186C4B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81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天气更新时间、保障能力、资源压力、数据口径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04241-CFCE-4725-89E3-B03E4AD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050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F"/>
          </a:solidFill>
          <a:ln xmlns:a="http://schemas.openxmlformats.org/drawingml/2006/main" w="0">
            <a:solidFill>
              <a:srgbClr val="D3DC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C03302-94C4-4D22-99A4-41F89F8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05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旅客信息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5EEDB-C3A9-4A72-904E-3A0C6376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1339E-D05C-4832-9C8D-35CA9F0F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在未确认前避免误导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10C1EE-99E0-4A1E-89CE-84B257FC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包含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FD017C-495E-4145-9588-B474F56C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815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草案标识、已知状态、待确认事项、正式通知渠道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EBB3F-25B4-45CF-9158-D2173D6E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“风险正在核实”与“航班已正式延误”必须分开表达。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B4DEA-CF96-4138-95A8-E5D0548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9F583D-C79B-4BDB-B0C0-BAED912E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4860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AB556-DCA7-4252-8FEC-946F64E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A5DC3-E75E-43C6-9CC1-29F183E3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15 项赛事场景全部通过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A6645-26A9-4661-8979-796392A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CFD13-692A-449B-B429-2A831216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91295-68A9-4977-9FE4-672090FB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314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55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55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rPr>
              <a:t>15/15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A6E0D-7A0A-481B-B98E-10C33FD6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自动化评估每次重新调用分析引擎，不读取预写答案。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2B8F1-E1E2-4A75-9D17-7C9D126F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另有 13 项单元测试覆盖 5 个百分点阈值边界、前 12 个月窗口、隐私脱敏和标准输出字段。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19CE6A3-EB4B-4868-9A0C-529DEE012CC7}"/>
              </a:ext>
            </a:extLst>
          </p:cNvPr>
          <p:cNvGraphicFramePr/>
          <p:nvPr/>
        </p:nvGraphicFramePr>
        <p:xfrm>
          <a:off xmlns:a="http://schemas.openxmlformats.org/drawingml/2006/main" x="4381500" y="1571625"/>
          <a:ext xmlns:a="http://schemas.openxmlformats.org/drawingml/2006/main" cx="700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d6b52f18e1421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2EFA1-DD20-440B-931C-FAD0492C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72125"/>
            <a:ext cx="7000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覆盖：信息不足、引用、冲突、因果、人工审批、对象化表达、新事件、未知信息、模拟标识、人工否决、隐私、正式发布、风险降级、时间范围和停止条件。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C31B2-65A1-4E6B-B419-45FA1265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EE765-BC42-446E-BBBE-6C1AA100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80153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19949A-6E92-4CAA-9738-37FB6EC0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68999-7F3B-4944-9ABB-7D421E10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价值度量与失败条件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9798A-9CD8-457F-84D3-65E565E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1717C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76482-8FDD-4377-A4E9-31A9BBA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solidFill>
              <a:srgbClr val="DCE3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7696C-CCBD-4AD4-A4A9-40BF99DC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rPr>
              <a:t>试点先测流程质量，不承诺直接减少延误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C2AE3-2B08-4123-8AE3-C72AB3C1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857B"/>
                </a:solidFill>
                <a:latin typeface="Microsoft YaHei"/>
                <a:ea typeface="Microsoft YaHei"/>
                <a:cs typeface="Microsoft YaHei"/>
              </a:rPr>
              <a:t>建议度量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5C1D2-26B4-44E4-8126-BD278B66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97D62-E435-4760-A5D4-1AC7399D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首次可执行核查清单耗时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3AE15-2658-480E-AB0F-3CA07F45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252DF-EE32-491A-AB93-C76A04B9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证据与来源完整率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507B0-A8F3-49FA-AD04-CC92C46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6A3C2-6B37-4A8D-AACC-C676022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沟通草案复核退回率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9BBFA-7611-4682-B9A2-73469F0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7E22D-76C9-4946-9322-5A310077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81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升级建议的人工接受率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182E1-9617-4425-A554-7A4F17C2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EB9BD-33B4-40C6-BD90-DE36C73E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安全边界违规数，目标为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3463A-744F-4699-AF6D-684E564E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190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F"/>
          </a:solidFill>
          <a:ln xmlns:a="http://schemas.openxmlformats.org/drawingml/2006/main" w="0">
            <a:solidFill>
              <a:srgbClr val="D3DC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3DF22-C5A1-4C64-B21B-6FA504F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系统无法可靠处理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1277D-2A56-4BB7-8537-8D736BB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C31D51-DE32-470B-8AFB-5EDB944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来源可靠性或统计口径无法确认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95ACF-0D0F-4AEA-9092-E2517153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B6D20-699D-40DC-B409-A6E49AF9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涉及未覆盖的安全专业问题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CC878-8616-4D5E-BADE-3725FCFE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24B8C9-CECF-4DBC-8396-5B7B4C09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90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实时数据延迟、缺失或被错误录入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FD910-5774-4D6E-A0E9-796C1E1C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9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A4287-8215-41C0-BA8D-A1277CD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机场规则变化但规则库尚未更新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7DD098-28A0-44C6-B463-4F447BF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4B3C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20CBA-090F-41C7-BCDA-312E42C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72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12B"/>
                </a:solidFill>
                <a:latin typeface="Microsoft YaHei"/>
                <a:ea typeface="Microsoft YaHei"/>
                <a:cs typeface="Microsoft YaHei"/>
              </a:rPr>
              <a:t>用户绕过审核，把草案当成正式通知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8977B-8880-483D-92A0-D3EE413E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F02D18-CE77-42C4-B80E-84484876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99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889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D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21A08E-75A6-4AB7-A00A-0694562A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4E685-189A-48AE-9086-659CE988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实施路线图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93043-7AC5-4830-AAB8-70B3039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8FA5B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8FA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FA5B5"/>
                </a:solidFill>
                <a:latin typeface="Microsoft YaHei"/>
                <a:ea typeface="Microsoft YaHei"/>
                <a:cs typeface="Microsoft YaHei"/>
              </a:rPr>
              <a:t>航策 FlightGuard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BB0CD-09EF-44D2-9768-9B99502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3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65B"/>
          </a:solidFill>
          <a:ln xmlns:a="http://schemas.openxmlformats.org/drawingml/2006/main" w="0">
            <a:solidFill>
              <a:srgbClr val="2846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2EC05-995D-498A-AC82-83588283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B5C4C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B5C4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5C4CE"/>
                </a:solidFill>
                <a:latin typeface="Microsoft YaHei"/>
                <a:ea typeface="Microsoft YaHei"/>
                <a:cs typeface="Microsoft YaHei"/>
              </a:rPr>
              <a:t>先影子运行，再连接只读数据。任何阶段都不开放自动放行、取消或发布。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0983A-52FA-48CD-B941-AF67D737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938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67"/>
          </a:solidFill>
          <a:ln xmlns:a="http://schemas.openxmlformats.org/drawingml/2006/main" w="0">
            <a:solidFill>
              <a:srgbClr val="3150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3D7BB-A090-4B8E-ABB0-A807FB97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11A"/>
          </a:solidFill>
          <a:ln xmlns:a="http://schemas.openxmlformats.org/drawingml/2006/main" w="19050">
            <a:solidFill>
              <a:srgbClr val="F4A11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C1D2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E9045-E4CB-4130-BA96-CD033283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赛事原型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CB6E4-9E31-4DE4-81C9-0E9B3965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624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BBF6E-94A2-41BD-BACE-607FF5CE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rPr>
              <a:t>离线规则、证据链、反馈闭环和测试报告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C00AE-A486-49E1-9E81-D24E41EA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19050">
            <a:solidFill>
              <a:srgbClr val="4965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BA932-8D84-45AC-8A75-7C9A2CC5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影子试点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243C3-D5E3-4141-8A0B-C04B78BD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624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第 1-4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6C1F1-D1B8-4120-8C13-BE529FC8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rPr>
              <a:t>使用去标识化案例进行流程对照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rPr>
              <a:t>不影响真实运行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62205-E644-460B-9323-47092697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19050">
            <a:solidFill>
              <a:srgbClr val="4965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3F726-B175-49AF-AC2B-FD46EAB6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受控接入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FBCED0-8E43-40FE-8924-A46B1461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624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第 5-10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C7CB6-1DB1-4AC0-9B33-77FDFD8A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910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rPr>
              <a:t>接入只读天气和航班状态，建立延迟与口径监控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58889-80AA-4F69-B3BC-AB808930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19050">
            <a:solidFill>
              <a:srgbClr val="49657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52D56E-B273-4964-B178-7A6A4CEF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238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有限生产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B929B-50B8-4526-A6D7-42C3B902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624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4A11A"/>
                </a:solidFill>
                <a:latin typeface="Microsoft YaHei"/>
                <a:ea typeface="Microsoft YaHei"/>
                <a:cs typeface="Microsoft YaHei"/>
              </a:rPr>
              <a:t>第 11-16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C340D-AF71-4072-A675-4C73F812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91050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FC0CB"/>
                </a:solidFill>
                <a:latin typeface="Microsoft YaHei"/>
                <a:ea typeface="Microsoft YaHei"/>
                <a:cs typeface="Microsoft YaHei"/>
              </a:rPr>
              <a:t>授权岗位使用，保留双人审核、停用开关和规则版本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714AF-0B98-47E6-96E8-CF69A8F3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现场演示：EVT001 天气风险、EVT003 来源冲突、EVT005 人工否决，再运行 15 项测试。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68CCF-603D-45E9-BD8D-8B618D4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rPr>
              <a:t>赛事模拟数据 · 决策支持，不执行真实运行操作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D08EAE-B297-4B46-A483-534C36C5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750" b="1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197A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7776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2026-10-20T02:26:22.0550000Z</dcterms:created>
  <dcterms:modified xsi:type="dcterms:W3CDTF">2026-10-20T02:26:22.0550000Z</dcterms:modified>
</coreProperties>
</file>